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75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3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Windows Active Directory &amp;</a:t>
            </a:r>
            <a:br/>
            <a:r>
              <a:t>Systems Administration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EE"/>
                </a:solidFill>
              </a:defRPr>
            </a:pPr>
            <a:r>
              <a:t>Hands-on project walkthrough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Ubuntu Server • Samba AD • Windows 11 • DNS • Group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Project overview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built a small company-style environment where Ubuntu Server acted as the Active Directory domain controller and Windows 11 acted as the employee computer. I created users, groups, and Organizational Units, joined Windows to the domain, created a Group Policy, linked it to the Computers OU, and then troubleshot and verified the policy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3. Set up Ubuntu Server / DC01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9045650a-fba6-4477-b039-8ea21a60fb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77242"/>
            <a:ext cx="6537960" cy="3897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0" y="24003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set up an Ubuntu Server VM and configured it as DC01, the server that would act as the center of my Active Directory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9229" y="3617717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The domain controller is the central server that provides the Active Directory services the Windows computer connects to.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262DA-E573-E009-884F-9B7A68F2A507}"/>
              </a:ext>
            </a:extLst>
          </p:cNvPr>
          <p:cNvSpPr/>
          <p:nvPr/>
        </p:nvSpPr>
        <p:spPr>
          <a:xfrm>
            <a:off x="7474090" y="1998979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4. Verify the Active Directory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.01.2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9724"/>
            <a:ext cx="6537960" cy="672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46387"/>
            <a:ext cx="388620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After provisioning the Samba Active Directory domain, I verified that the default domain accounts such as Administrator, Guest, and </a:t>
            </a:r>
            <a:r>
              <a:rPr sz="1600" dirty="0" err="1"/>
              <a:t>krbtgt</a:t>
            </a:r>
            <a:r>
              <a:rPr sz="1600" dirty="0"/>
              <a:t> were present.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72618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This confirmed that the basic Active Directory domain environment had been created successfully.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AB483-DDF6-6395-80F1-2FFEFAFD5FEF}"/>
              </a:ext>
            </a:extLst>
          </p:cNvPr>
          <p:cNvSpPr/>
          <p:nvPr/>
        </p:nvSpPr>
        <p:spPr>
          <a:xfrm>
            <a:off x="7474090" y="1930400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5. Create the IT-Admins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1.50.10 A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4005"/>
            <a:ext cx="6537960" cy="604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484684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created the IT-Admins group and added </a:t>
            </a:r>
            <a:r>
              <a:rPr sz="1600" dirty="0" err="1"/>
              <a:t>TestUser</a:t>
            </a:r>
            <a:r>
              <a:rPr sz="1600" dirty="0"/>
              <a:t> to it, then verified the membership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630789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Groups make it easier to manage users and permissions without handling every user individually.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AF7B3F-AB2C-93B4-56A4-5CF4B0447F17}"/>
              </a:ext>
            </a:extLst>
          </p:cNvPr>
          <p:cNvSpPr/>
          <p:nvPr/>
        </p:nvSpPr>
        <p:spPr>
          <a:xfrm>
            <a:off x="7474090" y="1998979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6. Create Organizational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2.31.53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35749"/>
            <a:ext cx="6537960" cy="19808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0" y="24003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created the Users, Computers, and IT Organizational Units to organize the objects in my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37973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OUs give me a way to organize users and computers and provide a place where policies can be targeted.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FD66B-5BC2-ECF2-7D84-D8D2F8601BAA}"/>
              </a:ext>
            </a:extLst>
          </p:cNvPr>
          <p:cNvSpPr/>
          <p:nvPr/>
        </p:nvSpPr>
        <p:spPr>
          <a:xfrm>
            <a:off x="7474090" y="1998980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7. Move TestUser into the Users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2.34.48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03367"/>
            <a:ext cx="6537960" cy="445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8" y="2513413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moved </a:t>
            </a:r>
            <a:r>
              <a:rPr sz="1600" dirty="0" err="1"/>
              <a:t>TestUser</a:t>
            </a:r>
            <a:r>
              <a:rPr sz="1600" dirty="0"/>
              <a:t> into the Users OU and verified the user's location in the directory.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726179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Keeping users organized in the correct OU makes the directory easier to manage and lets policies be targeted appropriately.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29AD7B-C1A5-C94D-7B6F-FB9E488839E1}"/>
              </a:ext>
            </a:extLst>
          </p:cNvPr>
          <p:cNvSpPr/>
          <p:nvPr/>
        </p:nvSpPr>
        <p:spPr>
          <a:xfrm>
            <a:off x="7474089" y="2099734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8. Join Windows to JOSHLAB.LOCAL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cd6ee21-4515-4635-8efe-c46b3d194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55254"/>
            <a:ext cx="6537960" cy="3741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4003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configured the Windows machine to connect to the Ubuntu server and joined it to the JOSHLAB.LOCAL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830321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A domain-joined computer can use the centralized services and policies provided by the domain controller.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0A956A-66E1-C224-355B-8C6EED267EB1}"/>
              </a:ext>
            </a:extLst>
          </p:cNvPr>
          <p:cNvSpPr/>
          <p:nvPr/>
        </p:nvSpPr>
        <p:spPr>
          <a:xfrm>
            <a:off x="7474090" y="1998979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9. Move the Windows computer into the Computers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2.40.54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26098"/>
            <a:ext cx="6537960" cy="400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8" y="2497398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moved the Windows computer account into the Computers OU so it could be managed through that 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865879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This lets policies linked to the Computers OU apply to the Windows computer.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DCE5D-8F33-E635-2857-23513E437D83}"/>
              </a:ext>
            </a:extLst>
          </p:cNvPr>
          <p:cNvSpPr/>
          <p:nvPr/>
        </p:nvSpPr>
        <p:spPr>
          <a:xfrm>
            <a:off x="7474090" y="1998979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10. Verify the AD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.13.47 PM(1).png"/>
          <p:cNvPicPr>
            <a:picLocks noChangeAspect="1"/>
          </p:cNvPicPr>
          <p:nvPr/>
        </p:nvPicPr>
        <p:blipFill>
          <a:blip r:embed="rId2"/>
          <a:srcRect r="51646" b="-15958"/>
          <a:stretch>
            <a:fillRect/>
          </a:stretch>
        </p:blipFill>
        <p:spPr>
          <a:xfrm>
            <a:off x="685800" y="3383280"/>
            <a:ext cx="5521779" cy="508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608828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verified that the Samba Active Directory Domain Controller service was 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6576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The AD service needs to be running for the domain environment and its services to work</a:t>
            </a:r>
            <a:r>
              <a:rPr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D4D676-AF74-BCE5-6238-EBA4DDD27E6A}"/>
              </a:ext>
            </a:extLst>
          </p:cNvPr>
          <p:cNvSpPr/>
          <p:nvPr/>
        </p:nvSpPr>
        <p:spPr>
          <a:xfrm>
            <a:off x="7474090" y="1910328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11. Create the Windows Security Baseline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.16.58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96265"/>
            <a:ext cx="6537960" cy="4598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601148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created a Group Policy Object named Windows Security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82778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The GPO gives me one place to define Windows settings that can be applied to managed computers.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816D0-98E4-8296-8A9B-1ADDB06C6F5D}"/>
              </a:ext>
            </a:extLst>
          </p:cNvPr>
          <p:cNvSpPr/>
          <p:nvPr/>
        </p:nvSpPr>
        <p:spPr>
          <a:xfrm>
            <a:off x="7474090" y="1998980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t>12. Link the GPO to the Computers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38404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1.23.14 PM(1).png"/>
          <p:cNvPicPr>
            <a:picLocks noChangeAspect="1"/>
          </p:cNvPicPr>
          <p:nvPr/>
        </p:nvPicPr>
        <p:blipFill>
          <a:blip r:embed="rId2"/>
          <a:srcRect r="27178" b="11489"/>
          <a:stretch>
            <a:fillRect/>
          </a:stretch>
        </p:blipFill>
        <p:spPr>
          <a:xfrm>
            <a:off x="737094" y="3250328"/>
            <a:ext cx="6566953" cy="814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8" y="2697480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linked the Windows Security Baseline GPO to the Computers 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791182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Linking the GPO tells Active Directory which OU should receive the policy.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EEBE1E-73B4-E12A-AB33-1454C71651DA}"/>
              </a:ext>
            </a:extLst>
          </p:cNvPr>
          <p:cNvSpPr/>
          <p:nvPr/>
        </p:nvSpPr>
        <p:spPr>
          <a:xfrm>
            <a:off x="7474090" y="1930399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428444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. Verify the GPO was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5472" y="384048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4.10.09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4539"/>
            <a:ext cx="6537960" cy="1823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58042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used </a:t>
            </a:r>
            <a:r>
              <a:rPr sz="1600" dirty="0" err="1"/>
              <a:t>gpresult</a:t>
            </a:r>
            <a:r>
              <a:rPr sz="1600" dirty="0"/>
              <a:t> to verify that Windows Security Baseline appeared under the Applied Group Policy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786011"/>
            <a:ext cx="3886200" cy="89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This proves the GPO was successfully processed by the Windows computer.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A89B1-BCDE-9B07-5713-BA4C0AAE6862}"/>
              </a:ext>
            </a:extLst>
          </p:cNvPr>
          <p:cNvSpPr/>
          <p:nvPr/>
        </p:nvSpPr>
        <p:spPr>
          <a:xfrm>
            <a:off x="7474090" y="1930400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9698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r>
              <a:rPr dirty="0"/>
              <a:t>. Confirm Group Policy update succeeded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5472" y="384048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69037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21 at 4.11.11 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4964"/>
            <a:ext cx="6537960" cy="1362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400300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What I did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I reran </a:t>
            </a:r>
            <a:r>
              <a:rPr sz="1600" dirty="0" err="1"/>
              <a:t>gpupdate</a:t>
            </a:r>
            <a:r>
              <a:rPr sz="1600" dirty="0"/>
              <a:t> /force and confirmed that both Computer Policy and User Policy completed successfully.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8" y="3733588"/>
            <a:ext cx="388620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sz="1600" dirty="0"/>
              <a:t>Why it matters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sz="1600" dirty="0"/>
              <a:t>This confirmed that the troubleshooting was resolved and the Windows machine could successfully process Group Policy.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D32F3-3834-33E6-8D6C-8625AC9AE1FC}"/>
              </a:ext>
            </a:extLst>
          </p:cNvPr>
          <p:cNvSpPr/>
          <p:nvPr/>
        </p:nvSpPr>
        <p:spPr>
          <a:xfrm>
            <a:off x="7474090" y="1930400"/>
            <a:ext cx="4391377" cy="345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5972A-DD20-FCAD-7CCA-17B62C01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D4B30-5EFF-AD39-E50F-0FF62343409D}"/>
              </a:ext>
            </a:extLst>
          </p:cNvPr>
          <p:cNvSpPr txBox="1"/>
          <p:nvPr/>
        </p:nvSpPr>
        <p:spPr>
          <a:xfrm>
            <a:off x="579120" y="583719"/>
            <a:ext cx="41523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500" b="1" dirty="0"/>
              <a:t>Troubleshooting &amp;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F3C28-7BC3-1B74-689D-7211581B29F2}"/>
              </a:ext>
            </a:extLst>
          </p:cNvPr>
          <p:cNvSpPr txBox="1"/>
          <p:nvPr/>
        </p:nvSpPr>
        <p:spPr>
          <a:xfrm>
            <a:off x="11245472" y="384048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7737C-7014-5E94-8E02-99AD69EBF1F1}"/>
              </a:ext>
            </a:extLst>
          </p:cNvPr>
          <p:cNvSpPr txBox="1"/>
          <p:nvPr/>
        </p:nvSpPr>
        <p:spPr>
          <a:xfrm>
            <a:off x="731520" y="1234440"/>
            <a:ext cx="1069848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Wrong Ubuntu ISO</a:t>
            </a:r>
            <a:r>
              <a:rPr lang="en-US" sz="1400" dirty="0"/>
              <a:t> — Initially used the AMD64 Ubuntu ISO on my Apple Silicon Mac. I replaced it with the ARM64 version.</a:t>
            </a:r>
          </a:p>
          <a:p>
            <a:r>
              <a:rPr lang="en-US" sz="1400" b="1" dirty="0"/>
              <a:t>Samba Provisioning</a:t>
            </a:r>
            <a:r>
              <a:rPr lang="en-US" sz="1400" dirty="0"/>
              <a:t> — My first Samba AD provisioning didn't work correctly, so I rebuilt the Samba configuration and provisioned the domain again.</a:t>
            </a:r>
          </a:p>
          <a:p>
            <a:r>
              <a:rPr lang="en-US" sz="1400" b="1" dirty="0"/>
              <a:t>IPv6 DNS Issue</a:t>
            </a:r>
            <a:r>
              <a:rPr lang="en-US" sz="1400" dirty="0"/>
              <a:t> — Windows was also trying IPv6 for DNS, which caused normal lookups to fail even though IPv4 DNS worked.</a:t>
            </a:r>
          </a:p>
          <a:p>
            <a:r>
              <a:rPr lang="en-US" sz="1400" b="1" dirty="0"/>
              <a:t>Biggest takeaway:</a:t>
            </a:r>
            <a:r>
              <a:rPr lang="en-US" sz="1400" dirty="0"/>
              <a:t> I learned how AD, DNS, SMB, SYSVOL, and Group Policy depend on each other.</a:t>
            </a:r>
            <a:br>
              <a:rPr lang="en-US" sz="1400" dirty="0"/>
            </a:br>
            <a:r>
              <a:rPr lang="en-US" sz="1400" b="1" dirty="0"/>
              <a:t>Learning the Commands</a:t>
            </a:r>
            <a:r>
              <a:rPr lang="en-US" sz="1400" dirty="0"/>
              <a:t> — I used Samba documentation and AI to learn unfamiliar commands, troubleshoot errors, and understand what each command was doing. I then ran and verified the commands in my lab.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389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1E26"/>
                </a:solidFill>
              </a:defRPr>
            </a:pPr>
            <a:r>
              <a:rPr dirty="0"/>
              <a:t>Project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5472" y="384048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A626E"/>
                </a:solidFill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83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5FA0"/>
                </a:solidFill>
              </a:defRPr>
            </a:pPr>
            <a:r>
              <a:rPr dirty="0"/>
              <a:t>Final result</a:t>
            </a:r>
          </a:p>
          <a:p>
            <a:pPr>
              <a:spcBef>
                <a:spcPts val="500"/>
              </a:spcBef>
              <a:defRPr sz="1500">
                <a:solidFill>
                  <a:srgbClr val="191E26"/>
                </a:solidFill>
              </a:defRPr>
            </a:pPr>
            <a:r>
              <a:rPr dirty="0"/>
              <a:t>The final lab included a working Active Directory-compatible domain, users and groups, organized OUs, a Windows 11 domain-joined computer, a Group Policy security baseline, and successful Group Policy processing.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858</Words>
  <Application>Microsoft Macintosh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Cox, Josh (CCI-Atlanta-CON)</cp:lastModifiedBy>
  <cp:revision>6</cp:revision>
  <dcterms:created xsi:type="dcterms:W3CDTF">2013-01-27T09:14:16Z</dcterms:created>
  <dcterms:modified xsi:type="dcterms:W3CDTF">2026-09-22T22:25:14Z</dcterms:modified>
  <cp:category/>
</cp:coreProperties>
</file>